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4" r:id="rId4"/>
  </p:sldMasterIdLst>
  <p:notesMasterIdLst>
    <p:notesMasterId r:id="rId17"/>
  </p:notesMasterIdLst>
  <p:handoutMasterIdLst>
    <p:handoutMasterId r:id="rId18"/>
  </p:handoutMasterIdLst>
  <p:sldIdLst>
    <p:sldId id="325" r:id="rId5"/>
    <p:sldId id="326" r:id="rId6"/>
    <p:sldId id="259" r:id="rId7"/>
    <p:sldId id="341" r:id="rId8"/>
    <p:sldId id="257" r:id="rId9"/>
    <p:sldId id="342" r:id="rId10"/>
    <p:sldId id="343" r:id="rId11"/>
    <p:sldId id="344" r:id="rId12"/>
    <p:sldId id="345" r:id="rId13"/>
    <p:sldId id="346" r:id="rId14"/>
    <p:sldId id="347" r:id="rId15"/>
    <p:sldId id="34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5E2C8C92-45DB-581A-B0E1-DCC99CE02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94C774-E456-DDD8-07D5-9B4CFE6236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1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3752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917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468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1312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8969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6817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980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887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644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545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38672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7495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7987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9662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08959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06344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156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4316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009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924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64C608-40B1-4030-A28D-5B74BC98ADC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263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  <p:sldLayoutId id="2147483961" r:id="rId17"/>
    <p:sldLayoutId id="2147483962" r:id="rId18"/>
    <p:sldLayoutId id="2147483963" r:id="rId19"/>
    <p:sldLayoutId id="2147483964" r:id="rId20"/>
    <p:sldLayoutId id="2147483968" r:id="rId21"/>
    <p:sldLayoutId id="2147483660" r:id="rId2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cinema-theater-hall-curtain-2556157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websummit/49058801557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pixabay.com/en/project-management-planning-business-2738521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amy.com/stock-photo-people-queuing-for-tickets-in-a-cinema-kyoto-japan-5194201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flickr.com/photos/heritagevancouver/5779401142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c-programming" TargetMode="External"/><Relationship Id="rId2" Type="http://schemas.openxmlformats.org/officeDocument/2006/relationships/hyperlink" Target="https://www.geeksforgeeks.org/c-programming-language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tutorialspoint.com/cprogrammin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4DBDC9-F571-F379-2E19-C6660B8A2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66675" y="-37505"/>
            <a:ext cx="12258675" cy="689550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2791326"/>
            <a:ext cx="10283952" cy="192506"/>
          </a:xfrm>
        </p:spPr>
        <p:txBody>
          <a:bodyPr>
            <a:noAutofit/>
          </a:bodyPr>
          <a:lstStyle/>
          <a:p>
            <a:r>
              <a:rPr lang="en-US" sz="7200" b="1" u="sng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PROJECT PRESENTATION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4450" y="3105151"/>
            <a:ext cx="8772524" cy="3095624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b="1" dirty="0"/>
          </a:p>
          <a:p>
            <a:r>
              <a:rPr lang="en-US" b="1" dirty="0">
                <a:solidFill>
                  <a:schemeClr val="accent2"/>
                </a:solidFill>
                <a:latin typeface="Bodoni MT" panose="02070603080606020203" pitchFamily="18" charset="0"/>
              </a:rPr>
              <a:t>          MOVIE TICKET BOOKING SYSTEM (WITH REVENUE TRACKING)</a:t>
            </a:r>
          </a:p>
          <a:p>
            <a:endParaRPr lang="en-US" b="1" dirty="0"/>
          </a:p>
          <a:p>
            <a:endParaRPr lang="en-US" b="1" dirty="0"/>
          </a:p>
          <a:p>
            <a:pPr algn="l"/>
            <a:r>
              <a:rPr lang="en-US" dirty="0"/>
              <a:t>NAME: ROHIT SINGH RAJAWAT</a:t>
            </a:r>
            <a:br>
              <a:rPr lang="en-US" dirty="0"/>
            </a:br>
            <a:r>
              <a:rPr lang="en-US" dirty="0"/>
              <a:t>SAP ID: 590027753</a:t>
            </a:r>
            <a:br>
              <a:rPr lang="en-US" dirty="0"/>
            </a:br>
            <a:r>
              <a:rPr lang="en-US" dirty="0"/>
              <a:t>BATCH: 60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8D681BB4-AF39-4C3F-253B-63D0A439C1E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540" r="14540"/>
          <a:stretch>
            <a:fillRect/>
          </a:stretch>
        </p:blipFill>
        <p:spPr>
          <a:xfrm>
            <a:off x="6760134" y="1023989"/>
            <a:ext cx="4441265" cy="402426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D72A11-A807-7FF5-BE13-9C3A3A8F84F0}"/>
              </a:ext>
            </a:extLst>
          </p:cNvPr>
          <p:cNvSpPr txBox="1"/>
          <p:nvPr/>
        </p:nvSpPr>
        <p:spPr>
          <a:xfrm>
            <a:off x="247650" y="952500"/>
            <a:ext cx="6553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pPr marL="285750" indent="-28575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sz="3600" b="1" u="sng" dirty="0">
                <a:solidFill>
                  <a:schemeClr val="accent2">
                    <a:lumMod val="75000"/>
                  </a:schemeClr>
                </a:solidFill>
              </a:rPr>
              <a:t>INTRODUCTION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Automate theater seat booking and revenue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Input:</a:t>
            </a:r>
            <a:endParaRPr lang="en-US" dirty="0"/>
          </a:p>
          <a:p>
            <a:r>
              <a:rPr lang="en-US" dirty="0"/>
              <a:t>Customer Name and Phone Number</a:t>
            </a:r>
          </a:p>
          <a:p>
            <a:r>
              <a:rPr lang="en-US" dirty="0"/>
              <a:t>Movie Selection</a:t>
            </a:r>
          </a:p>
          <a:p>
            <a:r>
              <a:rPr lang="en-US" dirty="0"/>
              <a:t>Seat Selection (Row and Column)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Output:</a:t>
            </a:r>
            <a:endParaRPr lang="en-US" dirty="0"/>
          </a:p>
          <a:p>
            <a:r>
              <a:rPr lang="en-US" dirty="0"/>
              <a:t>Booking Confirmation with Price</a:t>
            </a:r>
          </a:p>
          <a:p>
            <a:r>
              <a:rPr lang="en-US" dirty="0"/>
              <a:t>Seat Availability Matrix</a:t>
            </a:r>
          </a:p>
          <a:p>
            <a:r>
              <a:rPr lang="en-US" dirty="0"/>
              <a:t>Revenue Reports</a:t>
            </a:r>
          </a:p>
          <a:p>
            <a:r>
              <a:rPr lang="en-US" dirty="0"/>
              <a:t>Booking Records (saved to file)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close-up of a blue object&#10;&#10;AI-generated content may be incorrect.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-66675" y="0"/>
            <a:ext cx="12188952" cy="2368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01B385-657C-A8BB-C14D-FE9DCAE49BF7}"/>
              </a:ext>
            </a:extLst>
          </p:cNvPr>
          <p:cNvSpPr txBox="1"/>
          <p:nvPr/>
        </p:nvSpPr>
        <p:spPr>
          <a:xfrm>
            <a:off x="1484376" y="910273"/>
            <a:ext cx="9086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u="sng" dirty="0">
                <a:solidFill>
                  <a:srgbClr val="C00000"/>
                </a:solidFill>
                <a:latin typeface="Imprint MT Shadow" panose="04020605060303030202" pitchFamily="82" charset="0"/>
              </a:rPr>
              <a:t>PROBLEM DEFINITION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447F4-5805-9C56-EB3A-FBBAF5B6D8AD}"/>
              </a:ext>
            </a:extLst>
          </p:cNvPr>
          <p:cNvSpPr txBox="1"/>
          <p:nvPr/>
        </p:nvSpPr>
        <p:spPr>
          <a:xfrm>
            <a:off x="133349" y="2504546"/>
            <a:ext cx="112490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MANUAL BOOKING IS TIME-CONSUMING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/>
              <a:t>Tracking 100 seats per movie manually is difficult</a:t>
            </a:r>
          </a:p>
          <a:p>
            <a:r>
              <a:rPr lang="en-US" dirty="0"/>
              <a:t>High chance of double-booking errors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HIGH CHANCE OF HUMAN ERROR</a:t>
            </a:r>
            <a:endParaRPr lang="en-US" dirty="0"/>
          </a:p>
          <a:p>
            <a:r>
              <a:rPr lang="en-US" dirty="0"/>
              <a:t>Mistakes in calculating revenue</a:t>
            </a:r>
          </a:p>
          <a:p>
            <a:r>
              <a:rPr lang="en-US" dirty="0"/>
              <a:t>Confusion in seat availability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CHALLENGES IN PRESENTING SEAT STATUS CLEARLY</a:t>
            </a:r>
            <a:endParaRPr lang="en-US" dirty="0"/>
          </a:p>
          <a:p>
            <a:r>
              <a:rPr lang="en-US" dirty="0"/>
              <a:t>Difficult to visualize which seats are available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DIFFICULT IN MANAGING MULTIPLE MOVIES</a:t>
            </a:r>
            <a:endParaRPr lang="en-US" dirty="0"/>
          </a:p>
          <a:p>
            <a:r>
              <a:rPr lang="en-US" dirty="0"/>
              <a:t>Need to track 4 different movies simultaneously</a:t>
            </a:r>
          </a:p>
          <a:p>
            <a:r>
              <a:rPr lang="en-US" dirty="0"/>
              <a:t>Complex revenue calculation for different price zones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NEED FOR STANDARDIZED PRICING SYSTEM</a:t>
            </a:r>
            <a:endParaRPr lang="en-US" dirty="0"/>
          </a:p>
          <a:p>
            <a:r>
              <a:rPr lang="en-US" dirty="0"/>
              <a:t>Dynamic pricing based on seat location (front/middle/back)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D716F-C84E-7D9D-4FFE-81B47CFD2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97454" y="2768346"/>
            <a:ext cx="4170696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0DE2A6-5A17-2B7C-4E2C-D969616BF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WHY THIS PROJECT MATTERS 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4F8241-D949-4451-AE76-1BFA8D2C5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75" y="1732449"/>
            <a:ext cx="10857982" cy="465882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Motivation &amp; Scope</a:t>
            </a:r>
          </a:p>
          <a:p>
            <a:r>
              <a:rPr lang="en-IN" b="1" dirty="0"/>
              <a:t>Why It's Important:</a:t>
            </a:r>
          </a:p>
          <a:p>
            <a:r>
              <a:rPr lang="en-IN" dirty="0"/>
              <a:t> </a:t>
            </a:r>
            <a:r>
              <a:rPr lang="en-IN" b="1" dirty="0"/>
              <a:t>Eliminates Human Error</a:t>
            </a:r>
            <a:r>
              <a:rPr lang="en-IN" dirty="0"/>
              <a:t> - Automated validation prevents mistakes</a:t>
            </a:r>
          </a:p>
          <a:p>
            <a:r>
              <a:rPr lang="en-IN" dirty="0"/>
              <a:t> </a:t>
            </a:r>
            <a:r>
              <a:rPr lang="en-IN" b="1" dirty="0"/>
              <a:t>Saves Time</a:t>
            </a:r>
            <a:r>
              <a:rPr lang="en-IN" dirty="0"/>
              <a:t> - Reduces booking time from 5 minutes to 30 seconds</a:t>
            </a:r>
          </a:p>
          <a:p>
            <a:r>
              <a:rPr lang="en-IN" dirty="0"/>
              <a:t> </a:t>
            </a:r>
            <a:r>
              <a:rPr lang="en-IN" b="1" dirty="0"/>
              <a:t>Improves Customer Experience</a:t>
            </a:r>
            <a:r>
              <a:rPr lang="en-IN" dirty="0"/>
              <a:t> - Clear seat visualization &amp; instant confirmation</a:t>
            </a:r>
          </a:p>
          <a:p>
            <a:r>
              <a:rPr lang="en-IN" b="1" dirty="0"/>
              <a:t>Financial Transparency</a:t>
            </a:r>
            <a:r>
              <a:rPr lang="en-IN" dirty="0"/>
              <a:t> - Real-time revenue tracking per movie</a:t>
            </a:r>
          </a:p>
          <a:p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Project Scope:</a:t>
            </a:r>
          </a:p>
          <a:p>
            <a:r>
              <a:rPr lang="en-IN" dirty="0"/>
              <a:t>✓ Manage </a:t>
            </a:r>
            <a:r>
              <a:rPr lang="en-IN" b="1" dirty="0"/>
              <a:t>4 concurrent movies</a:t>
            </a:r>
            <a:endParaRPr lang="en-IN" dirty="0"/>
          </a:p>
          <a:p>
            <a:r>
              <a:rPr lang="en-IN" dirty="0"/>
              <a:t>✓ </a:t>
            </a:r>
            <a:r>
              <a:rPr lang="en-IN" b="1" dirty="0"/>
              <a:t>100 seats per movie</a:t>
            </a:r>
            <a:r>
              <a:rPr lang="en-IN" dirty="0"/>
              <a:t> (10×10 matrix)</a:t>
            </a:r>
          </a:p>
          <a:p>
            <a:r>
              <a:rPr lang="en-IN" dirty="0"/>
              <a:t>✓ </a:t>
            </a:r>
            <a:r>
              <a:rPr lang="en-IN" b="1" dirty="0"/>
              <a:t>Dynamic pricing</a:t>
            </a:r>
            <a:r>
              <a:rPr lang="en-IN" dirty="0"/>
              <a:t> based on seat location</a:t>
            </a:r>
          </a:p>
          <a:p>
            <a:r>
              <a:rPr lang="en-IN" dirty="0"/>
              <a:t>✓ </a:t>
            </a:r>
            <a:r>
              <a:rPr lang="en-IN" b="1" dirty="0"/>
              <a:t>Customer data management</a:t>
            </a:r>
            <a:r>
              <a:rPr lang="en-IN" dirty="0"/>
              <a:t> with file storage</a:t>
            </a:r>
          </a:p>
          <a:p>
            <a:r>
              <a:rPr lang="en-IN" dirty="0"/>
              <a:t>✓ </a:t>
            </a:r>
            <a:r>
              <a:rPr lang="en-IN" b="1" dirty="0"/>
              <a:t>Revenue tracking &amp; reporting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43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34E7CE-B8B0-1BF2-EF7D-E7F1974FD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24010"/>
            <a:ext cx="9032367" cy="87624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u="sng" dirty="0"/>
              <a:t>SYSTEM DESIGN</a:t>
            </a:r>
            <a:br>
              <a:rPr lang="en-IN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5774F-202A-F2EC-60C6-614946F3C9EF}"/>
              </a:ext>
            </a:extLst>
          </p:cNvPr>
          <p:cNvSpPr txBox="1"/>
          <p:nvPr/>
        </p:nvSpPr>
        <p:spPr>
          <a:xfrm>
            <a:off x="847726" y="1209675"/>
            <a:ext cx="94297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Uses structures for:</a:t>
            </a:r>
            <a:endParaRPr lang="en-IN" dirty="0"/>
          </a:p>
          <a:p>
            <a:r>
              <a:rPr lang="en-IN" dirty="0"/>
              <a:t>Show information (movie name, seats, revenue)</a:t>
            </a:r>
          </a:p>
          <a:p>
            <a:r>
              <a:rPr lang="en-IN" dirty="0"/>
              <a:t>Booking details (customer info, seat, price)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Dynamic pricing mechanism:</a:t>
            </a:r>
            <a:endParaRPr lang="en-IN" dirty="0"/>
          </a:p>
          <a:p>
            <a:r>
              <a:rPr lang="en-IN" dirty="0"/>
              <a:t>Front rows (1-3): ₹150</a:t>
            </a:r>
          </a:p>
          <a:p>
            <a:r>
              <a:rPr lang="en-IN" dirty="0"/>
              <a:t>Middle rows (4-7): ₹200</a:t>
            </a:r>
          </a:p>
          <a:p>
            <a:r>
              <a:rPr lang="en-IN" dirty="0"/>
              <a:t>Back rows (8-10): ₹250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Key algorithms:</a:t>
            </a:r>
            <a:endParaRPr lang="en-IN" dirty="0"/>
          </a:p>
          <a:p>
            <a:r>
              <a:rPr lang="en-IN" dirty="0"/>
              <a:t>Seat availability checking</a:t>
            </a:r>
          </a:p>
          <a:p>
            <a:r>
              <a:rPr lang="en-IN" dirty="0"/>
              <a:t>Revenue calculation and tracking</a:t>
            </a:r>
          </a:p>
          <a:p>
            <a:r>
              <a:rPr lang="en-IN" dirty="0"/>
              <a:t>File I/O for persistent storage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Data organization:</a:t>
            </a:r>
            <a:endParaRPr lang="en-IN" dirty="0"/>
          </a:p>
          <a:p>
            <a:r>
              <a:rPr lang="en-IN" dirty="0"/>
              <a:t>2D array (10×10) for seat matrix</a:t>
            </a:r>
          </a:p>
          <a:p>
            <a:r>
              <a:rPr lang="en-IN" dirty="0"/>
              <a:t>Global array for 4 movies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D0FF59-3330-1856-0105-2D60B030B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00799" y="1689735"/>
            <a:ext cx="5009863" cy="369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E0D99-EB61-60D9-400A-2F034CD80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211456"/>
            <a:ext cx="10144125" cy="1541144"/>
          </a:xfrm>
        </p:spPr>
        <p:txBody>
          <a:bodyPr>
            <a:normAutofit/>
          </a:bodyPr>
          <a:lstStyle/>
          <a:p>
            <a:r>
              <a:rPr lang="en-IN" sz="4400" u="sng" dirty="0">
                <a:solidFill>
                  <a:schemeClr val="accent2">
                    <a:lumMod val="75000"/>
                  </a:schemeClr>
                </a:solidFill>
              </a:rPr>
              <a:t>SYSTEM WORKFLOW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CBFC0B-1D27-3353-7D8D-3849D6BB1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" y="1533525"/>
            <a:ext cx="11239499" cy="51816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Main program flow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4BF6E-F43C-CCA3-3A29-9BE85F666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46" y="2185716"/>
            <a:ext cx="5472403" cy="40055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D198C7-19E1-B8A8-F1A0-6E2915BD3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038359" y="1870858"/>
            <a:ext cx="4453018" cy="284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5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65A6AC-8ED2-6363-2C38-DBBF2E16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2">
                    <a:lumMod val="75000"/>
                  </a:schemeClr>
                </a:solidFill>
              </a:rPr>
              <a:t>KEY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29650-ADCD-EFA8-53D1-D8746A0FA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6900" indent="0">
              <a:buNone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Makes This System Effective ?</a:t>
            </a:r>
          </a:p>
          <a:p>
            <a:r>
              <a:rPr lang="en-IN" b="1" dirty="0"/>
              <a:t>Technical Features:</a:t>
            </a:r>
          </a:p>
          <a:p>
            <a:r>
              <a:rPr lang="en-IN" dirty="0"/>
              <a:t> </a:t>
            </a:r>
            <a:r>
              <a:rPr lang="en-IN" b="1" dirty="0"/>
              <a:t>Real-time Seat Updates</a:t>
            </a:r>
            <a:r>
              <a:rPr lang="en-IN" dirty="0"/>
              <a:t> - Instant availability check</a:t>
            </a:r>
          </a:p>
          <a:p>
            <a:r>
              <a:rPr lang="en-IN" dirty="0"/>
              <a:t> </a:t>
            </a:r>
            <a:r>
              <a:rPr lang="en-IN" b="1" dirty="0"/>
              <a:t>Input Validation</a:t>
            </a:r>
            <a:r>
              <a:rPr lang="en-IN" dirty="0"/>
              <a:t> - Prevents invalid seat selection</a:t>
            </a:r>
          </a:p>
          <a:p>
            <a:r>
              <a:rPr lang="en-IN" b="1" dirty="0"/>
              <a:t>Double Booking Prevention</a:t>
            </a:r>
            <a:r>
              <a:rPr lang="en-IN" dirty="0"/>
              <a:t> - Checks before confirming</a:t>
            </a:r>
          </a:p>
          <a:p>
            <a:r>
              <a:rPr lang="en-IN" dirty="0"/>
              <a:t> </a:t>
            </a:r>
            <a:r>
              <a:rPr lang="en-IN" b="1" dirty="0"/>
              <a:t>Automatic Price Calculation</a:t>
            </a:r>
            <a:r>
              <a:rPr lang="en-IN" dirty="0"/>
              <a:t> - Based on row position</a:t>
            </a:r>
          </a:p>
          <a:p>
            <a:r>
              <a:rPr lang="en-IN" b="1" dirty="0"/>
              <a:t>Persistent Storage</a:t>
            </a:r>
            <a:r>
              <a:rPr lang="en-IN" dirty="0"/>
              <a:t> - File-based booking history</a:t>
            </a:r>
          </a:p>
          <a:p>
            <a:r>
              <a:rPr lang="en-IN" dirty="0"/>
              <a:t> </a:t>
            </a:r>
            <a:r>
              <a:rPr lang="en-IN" b="1" dirty="0"/>
              <a:t>Revenue Tracking</a:t>
            </a:r>
            <a:r>
              <a:rPr lang="en-IN" dirty="0"/>
              <a:t> - Per-movie financial reports</a:t>
            </a:r>
          </a:p>
          <a:p>
            <a:pPr marL="36900" indent="0">
              <a:buNone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User Experience:</a:t>
            </a:r>
          </a:p>
          <a:p>
            <a:r>
              <a:rPr lang="en-IN" dirty="0"/>
              <a:t>👤 Customer information capture</a:t>
            </a:r>
            <a:br>
              <a:rPr lang="en-IN" dirty="0"/>
            </a:br>
            <a:r>
              <a:rPr lang="en-IN" dirty="0"/>
              <a:t>📍 Clear seat visualization</a:t>
            </a:r>
            <a:br>
              <a:rPr lang="en-IN" dirty="0"/>
            </a:br>
            <a:r>
              <a:rPr lang="en-IN" dirty="0"/>
              <a:t>💳 Mock payment link generation</a:t>
            </a:r>
            <a:br>
              <a:rPr lang="en-IN" dirty="0"/>
            </a:br>
            <a:r>
              <a:rPr lang="en-IN" dirty="0"/>
              <a:t>📧 Booking confirmation display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356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03DC41-5034-C5F9-9503-5A2BBA97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975" y="1143000"/>
            <a:ext cx="10276713" cy="695325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solidFill>
                  <a:schemeClr val="accent2">
                    <a:lumMod val="75000"/>
                  </a:schemeClr>
                </a:solidFill>
              </a:rPr>
              <a:t>NOVELTY &amp; CONTRIBUTIONS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CDC3551-A4C5-3C30-097D-2D0027763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2600324"/>
            <a:ext cx="5324475" cy="3714751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b="1" dirty="0"/>
              <a:t>1. Dynamic Tiered Pricing System</a:t>
            </a:r>
          </a:p>
          <a:p>
            <a:pPr algn="l"/>
            <a:r>
              <a:rPr lang="en-US" dirty="0"/>
              <a:t>Not just fixed pricing</a:t>
            </a:r>
          </a:p>
          <a:p>
            <a:pPr algn="l"/>
            <a:r>
              <a:rPr lang="en-US" dirty="0"/>
              <a:t>Front/Middle/Back zones with different rates</a:t>
            </a:r>
          </a:p>
          <a:p>
            <a:pPr algn="l"/>
            <a:r>
              <a:rPr lang="en-US" dirty="0"/>
              <a:t>Encourages balanced seat distribution</a:t>
            </a:r>
          </a:p>
          <a:p>
            <a:pPr algn="l"/>
            <a:r>
              <a:rPr lang="en-US" b="1" dirty="0"/>
              <a:t>2. Multi-Movie Management</a:t>
            </a:r>
          </a:p>
          <a:p>
            <a:pPr algn="l"/>
            <a:r>
              <a:rPr lang="en-US" dirty="0"/>
              <a:t>Single system handles 4 movies simultaneously</a:t>
            </a:r>
          </a:p>
          <a:p>
            <a:pPr algn="l"/>
            <a:r>
              <a:rPr lang="en-US" dirty="0"/>
              <a:t>Independent seat matrices and revenue tracking</a:t>
            </a:r>
          </a:p>
          <a:p>
            <a:pPr algn="l"/>
            <a:r>
              <a:rPr lang="en-US" dirty="0"/>
              <a:t>Scalable design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7BA26-1884-12A0-8299-F65CFCBFD2A8}"/>
              </a:ext>
            </a:extLst>
          </p:cNvPr>
          <p:cNvSpPr txBox="1"/>
          <p:nvPr/>
        </p:nvSpPr>
        <p:spPr>
          <a:xfrm>
            <a:off x="6419848" y="2665035"/>
            <a:ext cx="49244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Dual View System</a:t>
            </a:r>
          </a:p>
          <a:p>
            <a:r>
              <a:rPr lang="en-US" sz="2000" dirty="0"/>
              <a:t>Matrix view for visual seat selection</a:t>
            </a:r>
          </a:p>
          <a:p>
            <a:r>
              <a:rPr lang="en-US" sz="2000" dirty="0"/>
              <a:t>List view for price-based selection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4. File-Based Audit Trail</a:t>
            </a:r>
          </a:p>
          <a:p>
            <a:r>
              <a:rPr lang="en-US" sz="2000" dirty="0"/>
              <a:t>Every booking permanently recorded</a:t>
            </a:r>
          </a:p>
          <a:p>
            <a:r>
              <a:rPr lang="en-US" sz="2000" dirty="0"/>
              <a:t>Separate daily records for management</a:t>
            </a:r>
          </a:p>
          <a:p>
            <a:r>
              <a:rPr lang="en-US" sz="2000" dirty="0"/>
              <a:t>Easy dispute resolution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7A02E-9B3A-AF5A-7761-8BC23A0D6FBF}"/>
              </a:ext>
            </a:extLst>
          </p:cNvPr>
          <p:cNvSpPr txBox="1"/>
          <p:nvPr/>
        </p:nvSpPr>
        <p:spPr>
          <a:xfrm>
            <a:off x="1028700" y="1924050"/>
            <a:ext cx="68961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  <a:buFont typeface="Wingdings 2" charset="2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BC451B">
                    <a:lumMod val="60000"/>
                    <a:lumOff val="40000"/>
                  </a:srgbClr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What's Unique About This Project 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399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11ECB7-A3EE-B9AE-5901-B4417FA3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FUTURE ENHANCEMENTS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01CDA4-1906-FCE6-7C1B-1BE668725D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Short-term (Easy to Implement):</a:t>
            </a:r>
          </a:p>
          <a:p>
            <a:r>
              <a:rPr lang="en-IN" dirty="0"/>
              <a:t>🕐 Add show timings (morning/evening/night)</a:t>
            </a:r>
          </a:p>
          <a:p>
            <a:r>
              <a:rPr lang="en-IN" dirty="0"/>
              <a:t>📅 Date-wise booking calendar</a:t>
            </a:r>
          </a:p>
          <a:p>
            <a:r>
              <a:rPr lang="en-IN" dirty="0"/>
              <a:t>👥 Multiple seat booking in one transaction</a:t>
            </a:r>
          </a:p>
          <a:p>
            <a:r>
              <a:rPr lang="en-IN" dirty="0"/>
              <a:t>🎨 Color-coded seat display</a:t>
            </a:r>
          </a:p>
          <a:p>
            <a:endParaRPr lang="en-IN" dirty="0"/>
          </a:p>
          <a:p>
            <a:r>
              <a:rPr lang="en-IN" b="1" dirty="0"/>
              <a:t>Medium-term:</a:t>
            </a:r>
          </a:p>
          <a:p>
            <a:r>
              <a:rPr lang="en-IN" dirty="0"/>
              <a:t>🔐 Admin authentication system</a:t>
            </a:r>
          </a:p>
          <a:p>
            <a:r>
              <a:rPr lang="en-IN" dirty="0"/>
              <a:t>📊 Analytics dashboard (most popular movies)</a:t>
            </a:r>
          </a:p>
          <a:p>
            <a:r>
              <a:rPr lang="en-IN" dirty="0"/>
              <a:t>💾 Replace file storage with SQLite database</a:t>
            </a:r>
          </a:p>
          <a:p>
            <a:r>
              <a:rPr lang="en-IN" dirty="0"/>
              <a:t>📱 Generate QR code tickets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E470F-A6EC-6D27-B314-B88E793480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Long-term (Advanced):</a:t>
            </a:r>
          </a:p>
          <a:p>
            <a:r>
              <a:rPr lang="en-US" dirty="0"/>
              <a:t>🌐 Web interface using CGI</a:t>
            </a:r>
          </a:p>
          <a:p>
            <a:r>
              <a:rPr lang="en-US" dirty="0"/>
              <a:t>💳 Real payment gateway integration</a:t>
            </a:r>
          </a:p>
          <a:p>
            <a:r>
              <a:rPr lang="en-US" dirty="0"/>
              <a:t>📧 Email/SMS confirmations</a:t>
            </a:r>
          </a:p>
          <a:p>
            <a:r>
              <a:rPr lang="en-US" dirty="0"/>
              <a:t>🎯 AI-based seat recommendations</a:t>
            </a:r>
          </a:p>
          <a:p>
            <a:r>
              <a:rPr lang="en-US" dirty="0"/>
              <a:t>📈 Dynamic pricing based on demand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03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C2DCDE-558A-7AAB-CD7B-AFBB9512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4" y="171450"/>
            <a:ext cx="7858125" cy="1495425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2">
                    <a:lumMod val="75000"/>
                  </a:schemeClr>
                </a:solidFill>
              </a:rPr>
              <a:t>CHALLENGES FACED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3DCA7-2DD5-9370-D4FC-89C8953FC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552575"/>
            <a:ext cx="10858500" cy="520065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 1: Input Buffer Issues</a:t>
            </a:r>
          </a:p>
          <a:p>
            <a:r>
              <a:rPr lang="en-IN" b="1" dirty="0"/>
              <a:t>Problem:</a:t>
            </a:r>
            <a:r>
              <a:rPr lang="en-IN" dirty="0"/>
              <a:t>  </a:t>
            </a:r>
            <a:r>
              <a:rPr lang="en-IN" dirty="0" err="1"/>
              <a:t>scanf</a:t>
            </a:r>
            <a:r>
              <a:rPr lang="en-IN" dirty="0"/>
              <a:t>() leaving newline characters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 Used %[^\n] format specifier and buffer clearing</a:t>
            </a:r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 2: 0-based vs 1-based Indexing</a:t>
            </a:r>
          </a:p>
          <a:p>
            <a:r>
              <a:rPr lang="en-IN" b="1" dirty="0"/>
              <a:t>Problem:</a:t>
            </a:r>
            <a:r>
              <a:rPr lang="en-IN" dirty="0"/>
              <a:t> User sees Row 1-10, array uses 0-9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 Systematic conversion (row--, col--) before processing</a:t>
            </a:r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 3: File Append Mode</a:t>
            </a:r>
          </a:p>
          <a:p>
            <a:r>
              <a:rPr lang="en-IN" b="1" dirty="0"/>
              <a:t>Problem:</a:t>
            </a:r>
            <a:r>
              <a:rPr lang="en-IN" dirty="0"/>
              <a:t> Previous data getting overwritten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 Used "a" (append) mode instead of "w" (write)</a:t>
            </a:r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 4: Data Persistence</a:t>
            </a:r>
          </a:p>
          <a:p>
            <a:r>
              <a:rPr lang="en-IN" b="1" dirty="0"/>
              <a:t>Problem:</a:t>
            </a:r>
            <a:r>
              <a:rPr lang="en-IN" dirty="0"/>
              <a:t> Bookings lost when program exits</a:t>
            </a:r>
            <a:br>
              <a:rPr lang="en-IN" dirty="0"/>
            </a:br>
            <a:r>
              <a:rPr lang="en-IN" b="1" dirty="0"/>
              <a:t>Solution:</a:t>
            </a:r>
            <a:r>
              <a:rPr lang="en-IN" dirty="0"/>
              <a:t> Immediate file write after each booking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046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99ED78-C3F2-0BAE-BC76-5A17BFCE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3E8ED-2EF6-CEAB-8D24-C9674E9761E3}"/>
              </a:ext>
            </a:extLst>
          </p:cNvPr>
          <p:cNvSpPr txBox="1"/>
          <p:nvPr/>
        </p:nvSpPr>
        <p:spPr>
          <a:xfrm>
            <a:off x="114300" y="1409701"/>
            <a:ext cx="117538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Resources Used</a:t>
            </a:r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Books:</a:t>
            </a:r>
          </a:p>
          <a:p>
            <a:r>
              <a:rPr lang="en-IN" b="1" dirty="0"/>
              <a:t>Kernighan &amp; Ritchie</a:t>
            </a:r>
            <a:r>
              <a:rPr lang="en-IN" dirty="0"/>
              <a:t> - </a:t>
            </a:r>
            <a:r>
              <a:rPr lang="en-IN" i="1" dirty="0"/>
              <a:t>The C Programming Language</a:t>
            </a:r>
            <a:r>
              <a:rPr lang="en-IN" dirty="0"/>
              <a:t> (2nd Edition)</a:t>
            </a:r>
          </a:p>
          <a:p>
            <a:r>
              <a:rPr lang="en-IN" b="1" dirty="0" err="1"/>
              <a:t>Yashavant</a:t>
            </a:r>
            <a:r>
              <a:rPr lang="en-IN" b="1" dirty="0"/>
              <a:t> Kanetkar</a:t>
            </a:r>
            <a:r>
              <a:rPr lang="en-IN" dirty="0"/>
              <a:t> - </a:t>
            </a:r>
            <a:r>
              <a:rPr lang="en-IN" i="1" dirty="0"/>
              <a:t>Let Us C</a:t>
            </a:r>
            <a:r>
              <a:rPr lang="en-IN" dirty="0"/>
              <a:t> (17th Edition)</a:t>
            </a:r>
          </a:p>
          <a:p>
            <a:r>
              <a:rPr lang="en-IN" b="1" dirty="0"/>
              <a:t>Online Resources:</a:t>
            </a:r>
          </a:p>
          <a:p>
            <a:r>
              <a:rPr lang="en-IN" b="1" dirty="0" err="1"/>
              <a:t>GeeksforGeeks</a:t>
            </a:r>
            <a:r>
              <a:rPr lang="en-IN" dirty="0"/>
              <a:t> - C Programming Tutorials</a:t>
            </a:r>
            <a:br>
              <a:rPr lang="en-IN" dirty="0"/>
            </a:br>
            <a:r>
              <a:rPr lang="en-IN" dirty="0">
                <a:hlinkClick r:id="rId2"/>
              </a:rPr>
              <a:t>https://www.geeksforgeeks.org/c-programming-language/</a:t>
            </a:r>
            <a:endParaRPr lang="en-IN" dirty="0"/>
          </a:p>
          <a:p>
            <a:r>
              <a:rPr lang="en-IN" b="1" dirty="0" err="1"/>
              <a:t>Programiz</a:t>
            </a:r>
            <a:r>
              <a:rPr lang="en-IN" dirty="0"/>
              <a:t> - C Structures and File Handling</a:t>
            </a:r>
            <a:br>
              <a:rPr lang="en-IN" dirty="0"/>
            </a:br>
            <a:r>
              <a:rPr lang="en-IN" dirty="0">
                <a:hlinkClick r:id="rId3"/>
              </a:rPr>
              <a:t>https://www.programiz.com/c-programming</a:t>
            </a:r>
            <a:endParaRPr lang="en-IN" dirty="0"/>
          </a:p>
          <a:p>
            <a:r>
              <a:rPr lang="en-IN" b="1" dirty="0"/>
              <a:t>Tutorials Point</a:t>
            </a:r>
            <a:r>
              <a:rPr lang="en-IN" dirty="0"/>
              <a:t> - C Arrays and Pointers</a:t>
            </a:r>
            <a:br>
              <a:rPr lang="en-IN" dirty="0"/>
            </a:br>
            <a:r>
              <a:rPr lang="en-IN" dirty="0">
                <a:hlinkClick r:id="rId4"/>
              </a:rPr>
              <a:t>https://www.tutorialspoint.com/cprogramming/</a:t>
            </a:r>
            <a:endParaRPr lang="en-IN" dirty="0"/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Course Materials:</a:t>
            </a:r>
            <a:endParaRPr lang="en-IN" dirty="0"/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Tools:</a:t>
            </a:r>
          </a:p>
          <a:p>
            <a:r>
              <a:rPr lang="en-IN" b="1" dirty="0"/>
              <a:t>VS Code</a:t>
            </a:r>
            <a:r>
              <a:rPr lang="en-IN" dirty="0"/>
              <a:t> - Code editor</a:t>
            </a:r>
          </a:p>
          <a:p>
            <a:r>
              <a:rPr lang="en-IN" b="1" dirty="0"/>
              <a:t>GCC Compiler</a:t>
            </a:r>
            <a:r>
              <a:rPr lang="en-IN" dirty="0"/>
              <a:t> - Code compilation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389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bIns="0" anchor="ctr" anchorCtr="0"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254</TotalTime>
  <Words>798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Bodoni MT</vt:lpstr>
      <vt:lpstr>Bookman Old Style</vt:lpstr>
      <vt:lpstr>Calibri</vt:lpstr>
      <vt:lpstr>Calisto MT</vt:lpstr>
      <vt:lpstr>Courier New</vt:lpstr>
      <vt:lpstr>Imprint MT Shadow</vt:lpstr>
      <vt:lpstr>Wingdings</vt:lpstr>
      <vt:lpstr>Wingdings 2</vt:lpstr>
      <vt:lpstr>Slate</vt:lpstr>
      <vt:lpstr>PROJECT PRESENTATION</vt:lpstr>
      <vt:lpstr>PowerPoint Presentation</vt:lpstr>
      <vt:lpstr>PowerPoint Presentation</vt:lpstr>
      <vt:lpstr>WHY THIS PROJECT MATTERS ?</vt:lpstr>
      <vt:lpstr>          SYSTEM DESIGN </vt:lpstr>
      <vt:lpstr>SYSTEM WORKFLOW</vt:lpstr>
      <vt:lpstr>KEY FEATURES</vt:lpstr>
      <vt:lpstr>NOVELTY &amp; CONTRIBUTIONS</vt:lpstr>
      <vt:lpstr>FUTURE ENHANCEMENTS</vt:lpstr>
      <vt:lpstr>CHALLENGES FACED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 Singh Rajawat</dc:creator>
  <cp:lastModifiedBy>kalyan Singh Rajawat</cp:lastModifiedBy>
  <cp:revision>3</cp:revision>
  <dcterms:created xsi:type="dcterms:W3CDTF">2025-12-01T00:28:17Z</dcterms:created>
  <dcterms:modified xsi:type="dcterms:W3CDTF">2025-12-04T06:25:17Z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